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892" r:id="rId1"/>
    <p:sldMasterId id="2147483897" r:id="rId2"/>
    <p:sldMasterId id="2147483900" r:id="rId3"/>
    <p:sldMasterId id="2147483904" r:id="rId4"/>
    <p:sldMasterId id="2147483920" r:id="rId5"/>
    <p:sldMasterId id="2147483931" r:id="rId6"/>
    <p:sldMasterId id="2147483942" r:id="rId7"/>
  </p:sldMasterIdLst>
  <p:notesMasterIdLst>
    <p:notesMasterId r:id="rId12"/>
  </p:notesMasterIdLst>
  <p:handoutMasterIdLst>
    <p:handoutMasterId r:id="rId13"/>
  </p:handoutMasterIdLst>
  <p:sldIdLst>
    <p:sldId id="646" r:id="rId8"/>
    <p:sldId id="980" r:id="rId9"/>
    <p:sldId id="982" r:id="rId10"/>
    <p:sldId id="981" r:id="rId11"/>
  </p:sldIdLst>
  <p:sldSz cx="12801600" cy="7200900"/>
  <p:notesSz cx="9866313" cy="142954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56504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113008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669512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22601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782519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3339023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895527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4452031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述职模板" id="{54177CF6-7791-3541-AB5A-C730D6E15F5E}">
          <p14:sldIdLst>
            <p14:sldId id="646"/>
            <p14:sldId id="980"/>
            <p14:sldId id="982"/>
            <p14:sldId id="9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3" userDrawn="1">
          <p15:clr>
            <a:srgbClr val="A4A3A4"/>
          </p15:clr>
        </p15:guide>
        <p15:guide id="3" pos="403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02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bo01" initials="l" lastIdx="2" clrIdx="0"/>
  <p:cmAuthor id="1" name="Bai,Yu(HR)" initials="B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0096FF"/>
    <a:srgbClr val="3F5A87"/>
    <a:srgbClr val="215968"/>
    <a:srgbClr val="31859C"/>
    <a:srgbClr val="002060"/>
    <a:srgbClr val="203864"/>
    <a:srgbClr val="66A1D8"/>
    <a:srgbClr val="EA502C"/>
    <a:srgbClr val="F7A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76" autoAdjust="0"/>
    <p:restoredTop sz="94424" autoAdjust="0"/>
  </p:normalViewPr>
  <p:slideViewPr>
    <p:cSldViewPr>
      <p:cViewPr varScale="1">
        <p:scale>
          <a:sx n="110" d="100"/>
          <a:sy n="110" d="100"/>
        </p:scale>
        <p:origin x="376" y="168"/>
      </p:cViewPr>
      <p:guideLst>
        <p:guide orient="horz" pos="2268"/>
        <p:guide pos="4033"/>
        <p:guide pos="403"/>
        <p:guide orient="horz" pos="680"/>
        <p:guide orient="horz" pos="86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04" y="48"/>
      </p:cViewPr>
      <p:guideLst>
        <p:guide orient="horz" pos="450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89063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r">
              <a:defRPr sz="1700"/>
            </a:lvl1pPr>
          </a:lstStyle>
          <a:p>
            <a:pPr>
              <a:defRPr/>
            </a:pPr>
            <a:fld id="{483A2CD2-7DF7-4A73-8ABE-BF67761A4571}" type="datetimeFigureOut">
              <a:rPr lang="zh-CN" altLang="en-US"/>
              <a:pPr>
                <a:defRPr/>
              </a:pPr>
              <a:t>2024/1/13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89063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r">
              <a:defRPr sz="1700"/>
            </a:lvl1pPr>
          </a:lstStyle>
          <a:p>
            <a:pPr>
              <a:defRPr/>
            </a:pPr>
            <a:fld id="{308EE467-3BDF-4921-9FE9-796F62CE9C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896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4941" cy="71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9063" y="0"/>
            <a:ext cx="4274941" cy="71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66688" y="1071563"/>
            <a:ext cx="953452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72" y="6789934"/>
            <a:ext cx="7893974" cy="6433289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b" anchorCtr="0" compatLnSpc="1">
            <a:prstTxWarp prst="textNoShape">
              <a:avLst/>
            </a:prstTxWarp>
          </a:bodyPr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9063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fld id="{D48166DF-1868-4059-B69D-905283CF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66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56504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113008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669512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22601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782519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9023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95527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52031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69417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66165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71924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0" y="878548"/>
            <a:ext cx="846849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0" rIns="111301" bIns="55650" anchor="ctr"/>
          <a:lstStyle/>
          <a:p>
            <a:endParaRPr lang="zh-CN" altLang="en-US" sz="290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654135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30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  <p:pic>
        <p:nvPicPr>
          <p:cNvPr id="12" name="Picture 2" descr="C:\Users\wumin\Desktop\LOG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1530" y="2047952"/>
            <a:ext cx="2723976" cy="8663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871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1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8" y="4627246"/>
            <a:ext cx="10881360" cy="1430179"/>
          </a:xfrm>
        </p:spPr>
        <p:txBody>
          <a:bodyPr anchor="t"/>
          <a:lstStyle>
            <a:lvl1pPr algn="l">
              <a:defRPr sz="4788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8" y="3052049"/>
            <a:ext cx="10881360" cy="1575197"/>
          </a:xfrm>
        </p:spPr>
        <p:txBody>
          <a:bodyPr anchor="b"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547314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2pPr>
            <a:lvl3pPr marL="1094628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3pPr>
            <a:lvl4pPr marL="1641942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4pPr>
            <a:lvl5pPr marL="2189256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5pPr>
            <a:lvl6pPr marL="2736571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6pPr>
            <a:lvl7pPr marL="3283885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7pPr>
            <a:lvl8pPr marL="3831199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8pPr>
            <a:lvl9pPr marL="4378513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8503" y="2910450"/>
            <a:ext cx="3113975" cy="77064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033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8983" y="1473518"/>
            <a:ext cx="6629717" cy="4165521"/>
          </a:xfrm>
        </p:spPr>
        <p:txBody>
          <a:bodyPr/>
          <a:lstStyle>
            <a:lvl1pPr>
              <a:defRPr sz="3352"/>
            </a:lvl1pPr>
            <a:lvl2pPr>
              <a:defRPr sz="2873"/>
            </a:lvl2pPr>
            <a:lvl3pPr>
              <a:defRPr sz="2394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92061" y="1473518"/>
            <a:ext cx="6629718" cy="4165521"/>
          </a:xfrm>
        </p:spPr>
        <p:txBody>
          <a:bodyPr/>
          <a:lstStyle>
            <a:lvl1pPr>
              <a:defRPr sz="3352"/>
            </a:lvl1pPr>
            <a:lvl2pPr>
              <a:defRPr sz="2873"/>
            </a:lvl2pPr>
            <a:lvl3pPr>
              <a:defRPr sz="2394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9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11869"/>
            <a:ext cx="5656263" cy="671750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314" indent="0">
              <a:buNone/>
              <a:defRPr sz="2394" b="1"/>
            </a:lvl2pPr>
            <a:lvl3pPr marL="1094628" indent="0">
              <a:buNone/>
              <a:defRPr sz="2155" b="1"/>
            </a:lvl3pPr>
            <a:lvl4pPr marL="1641942" indent="0">
              <a:buNone/>
              <a:defRPr sz="1915" b="1"/>
            </a:lvl4pPr>
            <a:lvl5pPr marL="2189256" indent="0">
              <a:buNone/>
              <a:defRPr sz="1915" b="1"/>
            </a:lvl5pPr>
            <a:lvl6pPr marL="2736571" indent="0">
              <a:buNone/>
              <a:defRPr sz="1915" b="1"/>
            </a:lvl6pPr>
            <a:lvl7pPr marL="3283885" indent="0">
              <a:buNone/>
              <a:defRPr sz="1915" b="1"/>
            </a:lvl7pPr>
            <a:lvl8pPr marL="3831199" indent="0">
              <a:buNone/>
              <a:defRPr sz="1915" b="1"/>
            </a:lvl8pPr>
            <a:lvl9pPr marL="4378513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" y="2283619"/>
            <a:ext cx="5656263" cy="4148853"/>
          </a:xfrm>
        </p:spPr>
        <p:txBody>
          <a:bodyPr/>
          <a:lstStyle>
            <a:lvl1pPr>
              <a:defRPr sz="2873"/>
            </a:lvl1pPr>
            <a:lvl2pPr>
              <a:defRPr sz="2394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314" indent="0">
              <a:buNone/>
              <a:defRPr sz="2394" b="1"/>
            </a:lvl2pPr>
            <a:lvl3pPr marL="1094628" indent="0">
              <a:buNone/>
              <a:defRPr sz="2155" b="1"/>
            </a:lvl3pPr>
            <a:lvl4pPr marL="1641942" indent="0">
              <a:buNone/>
              <a:defRPr sz="1915" b="1"/>
            </a:lvl4pPr>
            <a:lvl5pPr marL="2189256" indent="0">
              <a:buNone/>
              <a:defRPr sz="1915" b="1"/>
            </a:lvl5pPr>
            <a:lvl6pPr marL="2736571" indent="0">
              <a:buNone/>
              <a:defRPr sz="1915" b="1"/>
            </a:lvl6pPr>
            <a:lvl7pPr marL="3283885" indent="0">
              <a:buNone/>
              <a:defRPr sz="1915" b="1"/>
            </a:lvl7pPr>
            <a:lvl8pPr marL="3831199" indent="0">
              <a:buNone/>
              <a:defRPr sz="1915" b="1"/>
            </a:lvl8pPr>
            <a:lvl9pPr marL="4378513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3"/>
          </a:xfrm>
        </p:spPr>
        <p:txBody>
          <a:bodyPr/>
          <a:lstStyle>
            <a:lvl1pPr>
              <a:defRPr sz="2873"/>
            </a:lvl1pPr>
            <a:lvl2pPr>
              <a:defRPr sz="2394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13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74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093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2" y="286703"/>
            <a:ext cx="4211638" cy="1220153"/>
          </a:xfrm>
        </p:spPr>
        <p:txBody>
          <a:bodyPr anchor="b"/>
          <a:lstStyle>
            <a:lvl1pPr algn="l">
              <a:defRPr sz="2394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0" y="286703"/>
            <a:ext cx="7156450" cy="6145769"/>
          </a:xfrm>
        </p:spPr>
        <p:txBody>
          <a:bodyPr/>
          <a:lstStyle>
            <a:lvl1pPr>
              <a:defRPr sz="3831"/>
            </a:lvl1pPr>
            <a:lvl2pPr>
              <a:defRPr sz="3352"/>
            </a:lvl2pPr>
            <a:lvl3pPr>
              <a:defRPr sz="2873"/>
            </a:lvl3pPr>
            <a:lvl4pPr>
              <a:defRPr sz="2394"/>
            </a:lvl4pPr>
            <a:lvl5pPr>
              <a:defRPr sz="2394"/>
            </a:lvl5pPr>
            <a:lvl6pPr>
              <a:defRPr sz="2394"/>
            </a:lvl6pPr>
            <a:lvl7pPr>
              <a:defRPr sz="2394"/>
            </a:lvl7pPr>
            <a:lvl8pPr>
              <a:defRPr sz="2394"/>
            </a:lvl8pPr>
            <a:lvl9pPr>
              <a:defRPr sz="239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2" y="1506855"/>
            <a:ext cx="4211638" cy="4925616"/>
          </a:xfrm>
        </p:spPr>
        <p:txBody>
          <a:bodyPr/>
          <a:lstStyle>
            <a:lvl1pPr marL="0" indent="0">
              <a:buNone/>
              <a:defRPr sz="1676"/>
            </a:lvl1pPr>
            <a:lvl2pPr marL="547314" indent="0">
              <a:buNone/>
              <a:defRPr sz="1437"/>
            </a:lvl2pPr>
            <a:lvl3pPr marL="1094628" indent="0">
              <a:buNone/>
              <a:defRPr sz="1197"/>
            </a:lvl3pPr>
            <a:lvl4pPr marL="1641942" indent="0">
              <a:buNone/>
              <a:defRPr sz="1077"/>
            </a:lvl4pPr>
            <a:lvl5pPr marL="2189256" indent="0">
              <a:buNone/>
              <a:defRPr sz="1077"/>
            </a:lvl5pPr>
            <a:lvl6pPr marL="2736571" indent="0">
              <a:buNone/>
              <a:defRPr sz="1077"/>
            </a:lvl6pPr>
            <a:lvl7pPr marL="3283885" indent="0">
              <a:buNone/>
              <a:defRPr sz="1077"/>
            </a:lvl7pPr>
            <a:lvl8pPr marL="3831199" indent="0">
              <a:buNone/>
              <a:defRPr sz="1077"/>
            </a:lvl8pPr>
            <a:lvl9pPr marL="4378513" indent="0">
              <a:buNone/>
              <a:defRPr sz="10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38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0"/>
            <a:ext cx="7680960" cy="595075"/>
          </a:xfrm>
        </p:spPr>
        <p:txBody>
          <a:bodyPr anchor="b"/>
          <a:lstStyle>
            <a:lvl1pPr algn="l">
              <a:defRPr sz="2394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/>
          <a:lstStyle>
            <a:lvl1pPr marL="0" indent="0">
              <a:buNone/>
              <a:defRPr sz="3831"/>
            </a:lvl1pPr>
            <a:lvl2pPr marL="547314" indent="0">
              <a:buNone/>
              <a:defRPr sz="3352"/>
            </a:lvl2pPr>
            <a:lvl3pPr marL="1094628" indent="0">
              <a:buNone/>
              <a:defRPr sz="2873"/>
            </a:lvl3pPr>
            <a:lvl4pPr marL="1641942" indent="0">
              <a:buNone/>
              <a:defRPr sz="2394"/>
            </a:lvl4pPr>
            <a:lvl5pPr marL="2189256" indent="0">
              <a:buNone/>
              <a:defRPr sz="2394"/>
            </a:lvl5pPr>
            <a:lvl6pPr marL="2736571" indent="0">
              <a:buNone/>
              <a:defRPr sz="2394"/>
            </a:lvl6pPr>
            <a:lvl7pPr marL="3283885" indent="0">
              <a:buNone/>
              <a:defRPr sz="2394"/>
            </a:lvl7pPr>
            <a:lvl8pPr marL="3831199" indent="0">
              <a:buNone/>
              <a:defRPr sz="2394"/>
            </a:lvl8pPr>
            <a:lvl9pPr marL="4378513" indent="0">
              <a:buNone/>
              <a:defRPr sz="2394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04"/>
            <a:ext cx="7680960" cy="845105"/>
          </a:xfrm>
        </p:spPr>
        <p:txBody>
          <a:bodyPr/>
          <a:lstStyle>
            <a:lvl1pPr marL="0" indent="0">
              <a:buNone/>
              <a:defRPr sz="1676"/>
            </a:lvl1pPr>
            <a:lvl2pPr marL="547314" indent="0">
              <a:buNone/>
              <a:defRPr sz="1437"/>
            </a:lvl2pPr>
            <a:lvl3pPr marL="1094628" indent="0">
              <a:buNone/>
              <a:defRPr sz="1197"/>
            </a:lvl3pPr>
            <a:lvl4pPr marL="1641942" indent="0">
              <a:buNone/>
              <a:defRPr sz="1077"/>
            </a:lvl4pPr>
            <a:lvl5pPr marL="2189256" indent="0">
              <a:buNone/>
              <a:defRPr sz="1077"/>
            </a:lvl5pPr>
            <a:lvl6pPr marL="2736571" indent="0">
              <a:buNone/>
              <a:defRPr sz="1077"/>
            </a:lvl6pPr>
            <a:lvl7pPr marL="3283885" indent="0">
              <a:buNone/>
              <a:defRPr sz="1077"/>
            </a:lvl7pPr>
            <a:lvl8pPr marL="3831199" indent="0">
              <a:buNone/>
              <a:defRPr sz="1077"/>
            </a:lvl8pPr>
            <a:lvl9pPr marL="4378513" indent="0">
              <a:buNone/>
              <a:defRPr sz="10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60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583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854690" y="253366"/>
            <a:ext cx="3367089" cy="53856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8983" y="253366"/>
            <a:ext cx="9892347" cy="53856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0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12753203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7656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272546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8663974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442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47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8912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295426494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prstClr val="black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094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6966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5956771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6230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0592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1335943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46655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4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8229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3458638277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prstClr val="black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481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760835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31721371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16727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649214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143418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3396673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60423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12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092487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2929472075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268">
              <a:solidFill>
                <a:prstClr val="black"/>
              </a:solidFill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738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105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6.emf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oleObject" Target="../embeddings/oleObject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vmlDrawing" Target="../drawings/vmlDrawing2.v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6.emf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oleObject" Target="../embeddings/oleObject2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vmlDrawing" Target="../drawings/vmlDrawing3.vml"/><Relationship Id="rId2" Type="http://schemas.openxmlformats.org/officeDocument/2006/relationships/slideLayout" Target="../slideLayouts/slideLayout39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6.emf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6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476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295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2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903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58" indent="-41735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74" indent="-34779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19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665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141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617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093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57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046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476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2952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2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903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379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55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331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80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92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476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295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2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903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58" indent="-41735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74" indent="-34779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19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665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141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617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093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57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046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476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2952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2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903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379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55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331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80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39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76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87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504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00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51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60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78" indent="-41737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319" indent="-34781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60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763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267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71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275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779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283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504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008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512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6015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19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9023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527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2031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80210"/>
            <a:ext cx="11521440" cy="475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0081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2024/1/13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881" y="6674168"/>
            <a:ext cx="40538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74480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2700" y="6532946"/>
            <a:ext cx="11896201" cy="54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477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ctr" defTabSz="1094628" rtl="0" eaLnBrk="1" latinLnBrk="0" hangingPunct="1">
        <a:spcBef>
          <a:spcPct val="0"/>
        </a:spcBef>
        <a:buNone/>
        <a:defRPr sz="52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0486" indent="-410486" algn="l" defTabSz="1094628" rtl="0" eaLnBrk="1" latinLnBrk="0" hangingPunct="1">
        <a:spcBef>
          <a:spcPct val="20000"/>
        </a:spcBef>
        <a:buFont typeface="Arial" pitchFamily="34" charset="0"/>
        <a:buChar char="•"/>
        <a:defRPr sz="3831" kern="1200">
          <a:solidFill>
            <a:schemeClr val="tx1"/>
          </a:solidFill>
          <a:latin typeface="+mn-lt"/>
          <a:ea typeface="+mn-ea"/>
          <a:cs typeface="+mn-cs"/>
        </a:defRPr>
      </a:lvl1pPr>
      <a:lvl2pPr marL="889385" indent="-342071" algn="l" defTabSz="1094628" rtl="0" eaLnBrk="1" latinLnBrk="0" hangingPunct="1">
        <a:spcBef>
          <a:spcPct val="20000"/>
        </a:spcBef>
        <a:buFont typeface="Arial" pitchFamily="34" charset="0"/>
        <a:buChar char="–"/>
        <a:defRPr sz="3352" kern="1200">
          <a:solidFill>
            <a:schemeClr val="tx1"/>
          </a:solidFill>
          <a:latin typeface="+mn-lt"/>
          <a:ea typeface="+mn-ea"/>
          <a:cs typeface="+mn-cs"/>
        </a:defRPr>
      </a:lvl2pPr>
      <a:lvl3pPr marL="1368285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3pPr>
      <a:lvl4pPr marL="1915599" indent="-273657" algn="l" defTabSz="1094628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62914" indent="-273657" algn="l" defTabSz="1094628" rtl="0" eaLnBrk="1" latinLnBrk="0" hangingPunct="1">
        <a:spcBef>
          <a:spcPct val="20000"/>
        </a:spcBef>
        <a:buFont typeface="Arial" pitchFamily="34" charset="0"/>
        <a:buChar char="»"/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10228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557542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104856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652170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14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628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1942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9256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571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885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1199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8513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3"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207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7"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551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1"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140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u.baidu-int.com/knowledge/HFVrC7hq1Q/pKzJfZczuc/bxwcf-gv2P/Li2JAdkuYohS0O" TargetMode="External"/><Relationship Id="rId2" Type="http://schemas.openxmlformats.org/officeDocument/2006/relationships/hyperlink" Target="https://ku.baidu-int.com/knowledge/HFVrC7hq1Q/nA5b6cA54s/xDtqn3Xm8A/sZ4yji0OLHElDj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u.baidu-int.com/knowledge/HFVrC7hq1Q/nA5b6cA54s/xDtqn3Xm8A/aCwcyO51spa5ja" TargetMode="External"/><Relationship Id="rId2" Type="http://schemas.openxmlformats.org/officeDocument/2006/relationships/hyperlink" Target="https://ku.baidu-int.com/knowledge/HFVrC7hq1Q/nA5b6cA54s/xDtqn3Xm8A/v2d6cU6A8J1ewX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ku.baidu-int.com/knowledge/HFVrC7hq1Q/pKzJfZczuc/bxwcf-gv2P/2y5FXbpUZNUpg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9196" y="4117676"/>
            <a:ext cx="8103209" cy="534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628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ADAS</a:t>
            </a:r>
            <a:r>
              <a:rPr lang="en-US" altLang="zh-CN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+ PNC</a:t>
            </a: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 </a:t>
            </a:r>
            <a:r>
              <a:rPr lang="en-US" altLang="zh-CN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|</a:t>
            </a: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 郑立强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0962" y="3024386"/>
            <a:ext cx="8199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628">
              <a:spcBef>
                <a:spcPct val="20000"/>
              </a:spcBef>
              <a:buClr>
                <a:srgbClr val="2318DE"/>
              </a:buClr>
              <a:buSzPct val="150000"/>
            </a:pPr>
            <a:r>
              <a:rPr lang="en-US" altLang="zh-CN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2023</a:t>
            </a:r>
            <a:r>
              <a:rPr lang="zh-CN" altLang="en-US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年度述职报告</a:t>
            </a:r>
            <a:endParaRPr lang="en-US" altLang="zh-CN" sz="4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69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971CF-9C28-9D4F-AAD1-FF2D5FFA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30" y="-77669"/>
            <a:ext cx="11521440" cy="1200150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1 OKR </a:t>
            </a:r>
            <a:r>
              <a:rPr kumimoji="1" lang="zh-CN" altLang="en-US" sz="2400" dirty="0"/>
              <a:t>完成情况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88D09-3AFB-854B-A0A3-CB312672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17" y="839932"/>
            <a:ext cx="11521440" cy="4752262"/>
          </a:xfrm>
        </p:spPr>
        <p:txBody>
          <a:bodyPr>
            <a:normAutofit/>
          </a:bodyPr>
          <a:lstStyle/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600" dirty="0"/>
              <a:t>1.1 AEB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FCW</a:t>
            </a:r>
            <a:r>
              <a:rPr kumimoji="1" lang="zh-CN" altLang="en-US" sz="1600" dirty="0"/>
              <a:t>持续迭代，面向量产提升关键性能指标</a:t>
            </a:r>
            <a:r>
              <a:rPr kumimoji="1" lang="en-US" altLang="zh-CN" sz="1000" dirty="0"/>
              <a:t>(AEB</a:t>
            </a:r>
            <a:r>
              <a:rPr kumimoji="1" lang="zh-CN" altLang="en-US" sz="1000" dirty="0"/>
              <a:t>误触发率</a:t>
            </a:r>
            <a:r>
              <a:rPr kumimoji="1" lang="en-US" altLang="zh-CN" sz="1000" dirty="0"/>
              <a:t>)</a:t>
            </a:r>
          </a:p>
          <a:p>
            <a:pPr marL="0" indent="0">
              <a:buNone/>
            </a:pPr>
            <a:r>
              <a:rPr kumimoji="1" lang="zh-CN" altLang="en-US" sz="2000" dirty="0"/>
              <a:t> </a:t>
            </a:r>
            <a:r>
              <a:rPr kumimoji="1" lang="zh-CN" altLang="en-US" sz="1400" dirty="0"/>
              <a:t>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关键成果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从</a:t>
            </a:r>
            <a:r>
              <a:rPr kumimoji="1" lang="en-US" altLang="zh-CN" sz="1400" dirty="0"/>
              <a:t>2022</a:t>
            </a:r>
            <a:r>
              <a:rPr kumimoji="1" lang="zh-CN" altLang="en-US" sz="1400" dirty="0"/>
              <a:t>年</a:t>
            </a:r>
            <a:r>
              <a:rPr kumimoji="1" lang="en-US" altLang="zh-CN" sz="1400" dirty="0"/>
              <a:t>V3NP</a:t>
            </a:r>
            <a:r>
              <a:rPr kumimoji="1" lang="zh-CN" altLang="en-US" sz="1400" dirty="0"/>
              <a:t>平台切换至</a:t>
            </a:r>
            <a:r>
              <a:rPr kumimoji="1" lang="en-US" altLang="zh-CN" sz="1400" dirty="0"/>
              <a:t>2023</a:t>
            </a:r>
            <a:r>
              <a:rPr kumimoji="1" lang="zh-CN" altLang="en-US" sz="1400" dirty="0"/>
              <a:t>年</a:t>
            </a:r>
            <a:r>
              <a:rPr kumimoji="1" lang="en-US" altLang="zh-CN" sz="1400" dirty="0"/>
              <a:t>Orin</a:t>
            </a:r>
            <a:r>
              <a:rPr kumimoji="1" lang="zh-CN" altLang="en-US" sz="1400" dirty="0"/>
              <a:t>平台误触发率降低最大至</a:t>
            </a:r>
            <a:r>
              <a:rPr kumimoji="1" lang="en-US" altLang="zh-CN" sz="1400" b="1" dirty="0"/>
              <a:t>4.13</a:t>
            </a:r>
            <a:r>
              <a:rPr kumimoji="1" lang="zh-CN" altLang="en-US" sz="1400" b="1" dirty="0"/>
              <a:t>倍</a:t>
            </a:r>
            <a:endParaRPr kumimoji="1" lang="en-US" altLang="zh-CN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C6F2B2D-4544-B14C-B116-D6363A088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504706"/>
              </p:ext>
            </p:extLst>
          </p:nvPr>
        </p:nvGraphicFramePr>
        <p:xfrm>
          <a:off x="1000200" y="1659145"/>
          <a:ext cx="85344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11">
                  <a:extLst>
                    <a:ext uri="{9D8B030D-6E8A-4147-A177-3AD203B41FA5}">
                      <a16:colId xmlns:a16="http://schemas.microsoft.com/office/drawing/2014/main" val="2539673038"/>
                    </a:ext>
                  </a:extLst>
                </a:gridCol>
                <a:gridCol w="1779689">
                  <a:extLst>
                    <a:ext uri="{9D8B030D-6E8A-4147-A177-3AD203B41FA5}">
                      <a16:colId xmlns:a16="http://schemas.microsoft.com/office/drawing/2014/main" val="4250625548"/>
                    </a:ext>
                  </a:extLst>
                </a:gridCol>
                <a:gridCol w="741006">
                  <a:extLst>
                    <a:ext uri="{9D8B030D-6E8A-4147-A177-3AD203B41FA5}">
                      <a16:colId xmlns:a16="http://schemas.microsoft.com/office/drawing/2014/main" val="3292147364"/>
                    </a:ext>
                  </a:extLst>
                </a:gridCol>
                <a:gridCol w="1830565">
                  <a:extLst>
                    <a:ext uri="{9D8B030D-6E8A-4147-A177-3AD203B41FA5}">
                      <a16:colId xmlns:a16="http://schemas.microsoft.com/office/drawing/2014/main" val="799791500"/>
                    </a:ext>
                  </a:extLst>
                </a:gridCol>
                <a:gridCol w="1830565">
                  <a:extLst>
                    <a:ext uri="{9D8B030D-6E8A-4147-A177-3AD203B41FA5}">
                      <a16:colId xmlns:a16="http://schemas.microsoft.com/office/drawing/2014/main" val="3420908700"/>
                    </a:ext>
                  </a:extLst>
                </a:gridCol>
                <a:gridCol w="1830565">
                  <a:extLst>
                    <a:ext uri="{9D8B030D-6E8A-4147-A177-3AD203B41FA5}">
                      <a16:colId xmlns:a16="http://schemas.microsoft.com/office/drawing/2014/main" val="86072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里程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误触发次数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提升倍数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完成率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63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dirty="0"/>
                        <a:t>2022</a:t>
                      </a:r>
                      <a:endParaRPr lang="zh-CN" alt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dirty="0"/>
                        <a:t>【V3NP</a:t>
                      </a:r>
                      <a:r>
                        <a:rPr lang="zh-CN" altLang="en-US" sz="1200" i="1" dirty="0"/>
                        <a:t>平台</a:t>
                      </a:r>
                      <a:r>
                        <a:rPr lang="en-US" altLang="zh-CN" sz="1200" i="1" dirty="0"/>
                        <a:t>】14523.57km</a:t>
                      </a:r>
                      <a:r>
                        <a:rPr lang="zh-CN" altLang="en-US" sz="1200" i="1" dirty="0"/>
                        <a:t> </a:t>
                      </a:r>
                      <a:r>
                        <a:rPr lang="en-US" altLang="zh-CN" sz="1200" i="1" dirty="0"/>
                        <a:t>“</a:t>
                      </a:r>
                      <a:r>
                        <a:rPr lang="zh-CN" altLang="en-US" sz="1200" i="1" dirty="0"/>
                        <a:t>开卷考「</a:t>
                      </a:r>
                      <a:r>
                        <a:rPr lang="en-US" altLang="zh-CN" sz="1200" i="1" dirty="0"/>
                        <a:t>1</a:t>
                      </a:r>
                      <a:r>
                        <a:rPr lang="zh-CN" altLang="en-US" sz="1200" i="1" dirty="0"/>
                        <a:t>」</a:t>
                      </a:r>
                      <a:r>
                        <a:rPr lang="en-US" altLang="zh-CN" sz="1200" i="1" dirty="0"/>
                        <a:t>”</a:t>
                      </a:r>
                      <a:endParaRPr lang="zh-CN" alt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430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dirty="0"/>
                        <a:t>2023</a:t>
                      </a:r>
                      <a:endParaRPr lang="zh-CN" alt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dirty="0"/>
                        <a:t>【ORIN</a:t>
                      </a:r>
                      <a:r>
                        <a:rPr lang="zh-CN" altLang="en-US" sz="1200" i="1" dirty="0"/>
                        <a:t>平台</a:t>
                      </a:r>
                      <a:r>
                        <a:rPr lang="en-US" altLang="zh-CN" sz="1200" i="1" dirty="0"/>
                        <a:t>】3000</a:t>
                      </a:r>
                      <a:r>
                        <a:rPr lang="zh-CN" altLang="en-US" sz="1200" i="1" dirty="0"/>
                        <a:t> </a:t>
                      </a:r>
                      <a:r>
                        <a:rPr lang="en-US" altLang="zh-CN" sz="1200" i="1" dirty="0"/>
                        <a:t>0</a:t>
                      </a:r>
                      <a:r>
                        <a:rPr lang="zh-CN" altLang="en-US" sz="1200" i="1" dirty="0"/>
                        <a:t> </a:t>
                      </a:r>
                      <a:r>
                        <a:rPr lang="en-US" altLang="zh-CN" sz="1200" i="1" dirty="0"/>
                        <a:t>km</a:t>
                      </a:r>
                      <a:r>
                        <a:rPr lang="zh-CN" altLang="en-US" sz="1200" i="1" dirty="0"/>
                        <a:t> </a:t>
                      </a:r>
                      <a:r>
                        <a:rPr lang="en-US" altLang="zh-CN" sz="1200" i="1" dirty="0"/>
                        <a:t>“</a:t>
                      </a:r>
                      <a:r>
                        <a:rPr lang="zh-CN" altLang="en-US" sz="1200" i="1" dirty="0"/>
                        <a:t>开卷考</a:t>
                      </a:r>
                      <a:r>
                        <a:rPr lang="en-US" altLang="zh-CN" sz="1200" i="1" dirty="0"/>
                        <a:t>”</a:t>
                      </a:r>
                      <a:r>
                        <a:rPr lang="zh-CN" altLang="en-US" sz="1200" i="1" dirty="0"/>
                        <a:t>，</a:t>
                      </a:r>
                      <a:r>
                        <a:rPr lang="en-US" altLang="zh-CN" sz="1200" i="1" dirty="0"/>
                        <a:t>9000km</a:t>
                      </a:r>
                      <a:r>
                        <a:rPr lang="zh-CN" altLang="en-US" sz="1200" i="1" dirty="0"/>
                        <a:t> </a:t>
                      </a:r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zh-CN" alt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闭卷考「</a:t>
                      </a:r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」</a:t>
                      </a:r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4.13</a:t>
                      </a:r>
                      <a:r>
                        <a:rPr lang="zh-CN" alt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1.24</a:t>
                      </a:r>
                      <a:r>
                        <a:rPr lang="zh-CN" alt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&lt;=5000</a:t>
                      </a:r>
                      <a:r>
                        <a:rPr lang="zh-CN" altLang="en-US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0km</a:t>
                      </a:r>
                      <a:r>
                        <a:rPr lang="zh-CN" altLang="en-US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次（进取）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  <a:r>
                        <a:rPr lang="zh-CN" altLang="en-US" sz="12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（进取）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96300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44CC1BD-B954-7941-B2C0-634B3E4B2C20}"/>
              </a:ext>
            </a:extLst>
          </p:cNvPr>
          <p:cNvSpPr txBox="1"/>
          <p:nvPr/>
        </p:nvSpPr>
        <p:spPr>
          <a:xfrm>
            <a:off x="633917" y="6080660"/>
            <a:ext cx="11451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补充说明 「</a:t>
            </a:r>
            <a:r>
              <a:rPr kumimoji="1" lang="en-US" altLang="zh-CN" sz="1000" dirty="0"/>
              <a:t>1</a:t>
            </a:r>
            <a:r>
              <a:rPr kumimoji="1" lang="zh-CN" altLang="en-US" sz="1000" dirty="0"/>
              <a:t>」开卷考</a:t>
            </a:r>
            <a:r>
              <a:rPr kumimoji="1" lang="en-US" altLang="zh-CN" sz="1000" dirty="0"/>
              <a:t>: </a:t>
            </a:r>
            <a:r>
              <a:rPr kumimoji="1" lang="zh-CN" altLang="en-US" sz="1000" dirty="0"/>
              <a:t>通过测试里程积累数据，对问题</a:t>
            </a:r>
            <a:r>
              <a:rPr kumimoji="1" lang="en-US" altLang="zh-CN" sz="1000" dirty="0"/>
              <a:t>case</a:t>
            </a:r>
            <a:r>
              <a:rPr kumimoji="1" lang="zh-CN" altLang="en-US" sz="1000" dirty="0"/>
              <a:t>进行本地回归测试</a:t>
            </a:r>
            <a:r>
              <a:rPr kumimoji="1" lang="en-US" altLang="zh-CN" sz="1000" dirty="0"/>
              <a:t>(</a:t>
            </a:r>
            <a:r>
              <a:rPr kumimoji="1" lang="zh-CN" altLang="en-US" sz="1000" dirty="0"/>
              <a:t>端到端验证</a:t>
            </a:r>
            <a:r>
              <a:rPr kumimoji="1" lang="en-US" altLang="zh-CN" sz="1000" dirty="0"/>
              <a:t>)</a:t>
            </a:r>
            <a:r>
              <a:rPr kumimoji="1" lang="zh-CN" altLang="en-US" sz="1000" dirty="0"/>
              <a:t> 「</a:t>
            </a:r>
            <a:r>
              <a:rPr kumimoji="1" lang="en-US" altLang="zh-CN" sz="1000" dirty="0"/>
              <a:t>2</a:t>
            </a:r>
            <a:r>
              <a:rPr kumimoji="1" lang="zh-CN" altLang="en-US" sz="1000" dirty="0"/>
              <a:t>」闭卷考：通过测试里程直接计算误触发率，对问题</a:t>
            </a:r>
            <a:r>
              <a:rPr kumimoji="1" lang="en-US" altLang="zh-CN" sz="1000" dirty="0"/>
              <a:t>case</a:t>
            </a:r>
            <a:r>
              <a:rPr kumimoji="1" lang="zh-CN" altLang="en-US" sz="1000" dirty="0"/>
              <a:t>一票否决</a:t>
            </a:r>
            <a:endParaRPr kumimoji="1" lang="en-US" altLang="zh-CN" sz="1000" dirty="0"/>
          </a:p>
          <a:p>
            <a:r>
              <a:rPr kumimoji="1" lang="zh-CN" altLang="en-US" sz="1000" dirty="0"/>
              <a:t>另：由于</a:t>
            </a:r>
            <a:r>
              <a:rPr kumimoji="1" lang="en-US" altLang="zh-CN" sz="1000" dirty="0"/>
              <a:t>AEB</a:t>
            </a:r>
            <a:r>
              <a:rPr kumimoji="1" lang="zh-CN" altLang="en-US" sz="1000" dirty="0"/>
              <a:t>为自研模块，在</a:t>
            </a:r>
            <a:r>
              <a:rPr kumimoji="1" lang="en-US" altLang="zh-CN" sz="1000" dirty="0"/>
              <a:t>23</a:t>
            </a:r>
            <a:r>
              <a:rPr kumimoji="1" lang="zh-CN" altLang="en-US" sz="1000" dirty="0"/>
              <a:t>年</a:t>
            </a:r>
            <a:r>
              <a:rPr kumimoji="1" lang="en-US" altLang="zh-CN" sz="1000" dirty="0"/>
              <a:t>Q3</a:t>
            </a:r>
            <a:r>
              <a:rPr kumimoji="1" lang="zh-CN" altLang="en-US" sz="1000" dirty="0"/>
              <a:t>里程测试中由于项目车辆资源紧张等问题会影响到部分数据收集，且开卷考中测试问题以感知为主，尤其模型部分的问题强依赖于主线迭代，也有一定影响。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39FC15-1A37-D743-892C-E1C4EED4AA1E}"/>
              </a:ext>
            </a:extLst>
          </p:cNvPr>
          <p:cNvSpPr txBox="1"/>
          <p:nvPr/>
        </p:nvSpPr>
        <p:spPr>
          <a:xfrm>
            <a:off x="856184" y="3479568"/>
            <a:ext cx="114889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+mn-lt"/>
                <a:ea typeface="+mn-ea"/>
              </a:rPr>
              <a:t> </a:t>
            </a:r>
            <a:r>
              <a:rPr kumimoji="1" lang="en-US" altLang="zh-CN" sz="1200" dirty="0">
                <a:latin typeface="+mn-lt"/>
                <a:ea typeface="+mn-ea"/>
              </a:rPr>
              <a:t> </a:t>
            </a:r>
          </a:p>
          <a:p>
            <a:r>
              <a:rPr kumimoji="1" lang="en-US" altLang="zh-CN" sz="1400" dirty="0">
                <a:latin typeface="+mn-lt"/>
                <a:ea typeface="+mn-ea"/>
              </a:rPr>
              <a:t>【</a:t>
            </a:r>
            <a:r>
              <a:rPr kumimoji="1" lang="zh-CN" altLang="en-US" sz="1400" dirty="0">
                <a:latin typeface="+mn-lt"/>
                <a:ea typeface="+mn-ea"/>
              </a:rPr>
              <a:t>重要产出</a:t>
            </a:r>
            <a:r>
              <a:rPr kumimoji="1" lang="en-US" altLang="zh-CN" sz="1400" dirty="0">
                <a:latin typeface="+mn-lt"/>
                <a:ea typeface="+mn-ea"/>
              </a:rPr>
              <a:t>1】</a:t>
            </a:r>
            <a:r>
              <a:rPr kumimoji="1" lang="zh-CN" altLang="en-US" sz="1400" dirty="0">
                <a:latin typeface="+mn-lt"/>
                <a:ea typeface="+mn-ea"/>
              </a:rPr>
              <a:t>优化</a:t>
            </a:r>
            <a:r>
              <a:rPr kumimoji="1" lang="en-US" altLang="zh-CN" sz="1400" dirty="0">
                <a:latin typeface="+mn-lt"/>
                <a:ea typeface="+mn-ea"/>
              </a:rPr>
              <a:t>CNCAP</a:t>
            </a:r>
            <a:r>
              <a:rPr kumimoji="1" lang="zh-CN" altLang="en-US" sz="1400" dirty="0">
                <a:latin typeface="+mn-lt"/>
                <a:ea typeface="+mn-ea"/>
              </a:rPr>
              <a:t>测试中</a:t>
            </a:r>
            <a:r>
              <a:rPr kumimoji="1" lang="en-US" altLang="zh-CN" sz="1400" dirty="0">
                <a:latin typeface="+mn-lt"/>
                <a:ea typeface="+mn-ea"/>
              </a:rPr>
              <a:t>FCW</a:t>
            </a:r>
            <a:r>
              <a:rPr kumimoji="1" lang="zh-CN" altLang="en-US" sz="1400" dirty="0">
                <a:latin typeface="+mn-lt"/>
                <a:ea typeface="+mn-ea"/>
              </a:rPr>
              <a:t>报警不及时</a:t>
            </a:r>
            <a:r>
              <a:rPr kumimoji="1" lang="en-US" altLang="zh-CN" sz="1400" dirty="0">
                <a:latin typeface="+mn-lt"/>
                <a:ea typeface="+mn-ea"/>
              </a:rPr>
              <a:t>(</a:t>
            </a:r>
            <a:r>
              <a:rPr kumimoji="1" lang="zh-CN" altLang="en-US" sz="1400" dirty="0">
                <a:latin typeface="+mn-lt"/>
                <a:ea typeface="+mn-ea"/>
              </a:rPr>
              <a:t>早、晚</a:t>
            </a:r>
            <a:r>
              <a:rPr kumimoji="1" lang="en-US" altLang="zh-CN" sz="1400" dirty="0">
                <a:latin typeface="+mn-lt"/>
                <a:ea typeface="+mn-ea"/>
              </a:rPr>
              <a:t>)</a:t>
            </a:r>
            <a:r>
              <a:rPr kumimoji="1" lang="zh-CN" altLang="en-US" sz="1400" dirty="0">
                <a:latin typeface="+mn-lt"/>
                <a:ea typeface="+mn-ea"/>
              </a:rPr>
              <a:t>问题，提升</a:t>
            </a:r>
            <a:r>
              <a:rPr kumimoji="1" lang="en-US" altLang="zh-CN" sz="1400" dirty="0">
                <a:latin typeface="+mn-lt"/>
                <a:ea typeface="+mn-ea"/>
              </a:rPr>
              <a:t>CIPV</a:t>
            </a:r>
            <a:r>
              <a:rPr kumimoji="1" lang="zh-CN" altLang="en-US" sz="1400" dirty="0">
                <a:latin typeface="+mn-lt"/>
                <a:ea typeface="+mn-ea"/>
              </a:rPr>
              <a:t>稳定性</a:t>
            </a:r>
            <a:r>
              <a:rPr kumimoji="1" lang="en-US" altLang="zh-CN" sz="1400" dirty="0">
                <a:latin typeface="+mn-lt"/>
                <a:ea typeface="+mn-ea"/>
              </a:rPr>
              <a:t>+</a:t>
            </a:r>
            <a:r>
              <a:rPr kumimoji="1" lang="zh-CN" altLang="en-US" sz="1400" dirty="0">
                <a:latin typeface="+mn-lt"/>
                <a:ea typeface="+mn-ea"/>
              </a:rPr>
              <a:t>场地考试得分</a:t>
            </a:r>
            <a:r>
              <a:rPr kumimoji="1" lang="en-US" altLang="zh-CN" sz="1400" dirty="0">
                <a:latin typeface="+mn-lt"/>
                <a:ea typeface="+mn-ea"/>
              </a:rPr>
              <a:t>+FCW</a:t>
            </a:r>
            <a:r>
              <a:rPr kumimoji="1" lang="zh-CN" altLang="en-US" sz="1400" dirty="0">
                <a:latin typeface="+mn-lt"/>
                <a:ea typeface="+mn-ea"/>
              </a:rPr>
              <a:t>误报率</a:t>
            </a:r>
            <a:r>
              <a:rPr kumimoji="1" lang="en-US" altLang="zh-CN" sz="1000" dirty="0">
                <a:latin typeface="+mn-lt"/>
                <a:ea typeface="+mn-ea"/>
              </a:rPr>
              <a:t>(</a:t>
            </a:r>
            <a:r>
              <a:rPr kumimoji="1" lang="zh-CN" altLang="en-US" sz="1000" dirty="0">
                <a:latin typeface="+mn-lt"/>
                <a:ea typeface="+mn-ea"/>
              </a:rPr>
              <a:t>该部分指标未在</a:t>
            </a:r>
            <a:r>
              <a:rPr kumimoji="1" lang="en-US" altLang="zh-CN" sz="1000" dirty="0">
                <a:latin typeface="+mn-lt"/>
                <a:ea typeface="+mn-ea"/>
              </a:rPr>
              <a:t>sugar</a:t>
            </a:r>
            <a:r>
              <a:rPr kumimoji="1" lang="zh-CN" altLang="en-US" sz="1000" dirty="0">
                <a:latin typeface="+mn-lt"/>
                <a:ea typeface="+mn-ea"/>
              </a:rPr>
              <a:t>打点和统计</a:t>
            </a:r>
            <a:r>
              <a:rPr kumimoji="1" lang="en-US" altLang="zh-CN" sz="1000" dirty="0">
                <a:latin typeface="+mn-lt"/>
                <a:ea typeface="+mn-ea"/>
              </a:rPr>
              <a:t>)</a:t>
            </a:r>
          </a:p>
          <a:p>
            <a:r>
              <a:rPr kumimoji="1" lang="en-US" altLang="zh-CN" sz="1400" dirty="0">
                <a:latin typeface="+mn-lt"/>
                <a:ea typeface="+mn-ea"/>
              </a:rPr>
              <a:t>【</a:t>
            </a:r>
            <a:r>
              <a:rPr kumimoji="1" lang="zh-CN" altLang="en-US" sz="1400" dirty="0">
                <a:latin typeface="+mn-lt"/>
                <a:ea typeface="+mn-ea"/>
              </a:rPr>
              <a:t>重要产出</a:t>
            </a:r>
            <a:r>
              <a:rPr kumimoji="1" lang="en-US" altLang="zh-CN" sz="1400" dirty="0">
                <a:latin typeface="+mn-lt"/>
                <a:ea typeface="+mn-ea"/>
              </a:rPr>
              <a:t>2】</a:t>
            </a:r>
            <a:r>
              <a:rPr kumimoji="1" lang="zh-CN" altLang="en-US" sz="1400" dirty="0">
                <a:latin typeface="+mn-lt"/>
                <a:ea typeface="+mn-ea"/>
              </a:rPr>
              <a:t>优化感知障碍物属性一致性校验，降低了感知障碍物质量较差的场景下</a:t>
            </a:r>
            <a:r>
              <a:rPr kumimoji="1" lang="en-US" altLang="zh-CN" sz="1400" dirty="0">
                <a:latin typeface="+mn-lt"/>
                <a:ea typeface="+mn-ea"/>
              </a:rPr>
              <a:t>AEB</a:t>
            </a:r>
            <a:r>
              <a:rPr kumimoji="1" lang="zh-CN" altLang="en-US" sz="1400" dirty="0">
                <a:latin typeface="+mn-lt"/>
                <a:ea typeface="+mn-ea"/>
              </a:rPr>
              <a:t>误报率</a:t>
            </a:r>
            <a:endParaRPr kumimoji="1" lang="en-US" altLang="zh-CN" sz="1200" dirty="0">
              <a:latin typeface="+mn-lt"/>
              <a:ea typeface="+mn-ea"/>
            </a:endParaRPr>
          </a:p>
          <a:p>
            <a:endParaRPr kumimoji="1" lang="en-US" altLang="zh-CN" sz="1200" dirty="0">
              <a:latin typeface="+mn-lt"/>
              <a:ea typeface="+mn-ea"/>
            </a:endParaRPr>
          </a:p>
          <a:p>
            <a:r>
              <a:rPr kumimoji="1" lang="en-US" altLang="zh-CN" sz="1400" dirty="0">
                <a:latin typeface="+mn-lt"/>
                <a:ea typeface="+mn-ea"/>
              </a:rPr>
              <a:t>【</a:t>
            </a:r>
            <a:r>
              <a:rPr kumimoji="1" lang="zh-CN" altLang="en-US" sz="1400" dirty="0">
                <a:latin typeface="+mn-lt"/>
                <a:ea typeface="+mn-ea"/>
              </a:rPr>
              <a:t>关键数据分析</a:t>
            </a:r>
            <a:r>
              <a:rPr kumimoji="1" lang="en-US" altLang="zh-CN" sz="1400" dirty="0">
                <a:latin typeface="+mn-lt"/>
                <a:ea typeface="+mn-ea"/>
              </a:rPr>
              <a:t>】</a:t>
            </a:r>
            <a:r>
              <a:rPr kumimoji="1" lang="en" altLang="zh-CN" sz="1200" dirty="0">
                <a:latin typeface="+mn-lt"/>
                <a:ea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https://ku.baidu-int.com/knowledge/HFVrC7hq1Q/nA5b6cA54s/xDtqn3Xm8A/sZ4yji0OLHElDj</a:t>
            </a:r>
            <a:endParaRPr kumimoji="1" lang="en" altLang="zh-CN" sz="1200" dirty="0">
              <a:latin typeface="+mn-lt"/>
              <a:ea typeface="+mn-ea"/>
            </a:endParaRPr>
          </a:p>
          <a:p>
            <a:r>
              <a:rPr kumimoji="1" lang="en-US" altLang="zh-CN" sz="1200" dirty="0">
                <a:latin typeface="+mn-lt"/>
                <a:ea typeface="+mn-ea"/>
              </a:rPr>
              <a:t>  </a:t>
            </a:r>
            <a:r>
              <a:rPr kumimoji="1" lang="zh-CN" altLang="en-US" sz="1200" dirty="0">
                <a:latin typeface="+mn-lt"/>
                <a:ea typeface="+mn-ea"/>
              </a:rPr>
              <a:t>由于在</a:t>
            </a:r>
            <a:r>
              <a:rPr kumimoji="1" lang="en-US" altLang="zh-CN" sz="1200" dirty="0">
                <a:latin typeface="+mn-lt"/>
                <a:ea typeface="+mn-ea"/>
              </a:rPr>
              <a:t>23</a:t>
            </a:r>
            <a:r>
              <a:rPr kumimoji="1" lang="zh-CN" altLang="en-US" sz="1200" dirty="0">
                <a:latin typeface="+mn-lt"/>
                <a:ea typeface="+mn-ea"/>
              </a:rPr>
              <a:t>年中开始</a:t>
            </a:r>
            <a:r>
              <a:rPr kumimoji="1" lang="en-US" altLang="zh-CN" sz="1200" dirty="0">
                <a:latin typeface="+mn-lt"/>
                <a:ea typeface="+mn-ea"/>
              </a:rPr>
              <a:t>CCR</a:t>
            </a:r>
            <a:r>
              <a:rPr kumimoji="1" lang="zh-CN" altLang="en-US" sz="1200" dirty="0">
                <a:latin typeface="+mn-lt"/>
                <a:ea typeface="+mn-ea"/>
              </a:rPr>
              <a:t>策略端相对比较稳定，问题分析主要集中在感知模型和自研后处理部分，主要是协助感知同学快速定位问题和独立完成本地端到端回归测试</a:t>
            </a:r>
            <a:endParaRPr kumimoji="1" lang="en" altLang="zh-CN" sz="1200" dirty="0">
              <a:latin typeface="+mn-lt"/>
              <a:ea typeface="+mn-ea"/>
            </a:endParaRPr>
          </a:p>
          <a:p>
            <a:endParaRPr kumimoji="1" lang="en-US" altLang="zh-CN" sz="1200" dirty="0">
              <a:latin typeface="+mn-lt"/>
              <a:ea typeface="+mn-ea"/>
            </a:endParaRPr>
          </a:p>
          <a:p>
            <a:endParaRPr kumimoji="1" lang="zh-CN" altLang="en-US" sz="1800" dirty="0"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6432DF-17E2-F345-8CEF-327FED47F213}"/>
              </a:ext>
            </a:extLst>
          </p:cNvPr>
          <p:cNvSpPr txBox="1"/>
          <p:nvPr/>
        </p:nvSpPr>
        <p:spPr>
          <a:xfrm>
            <a:off x="626789" y="4883149"/>
            <a:ext cx="106202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+mn-lt"/>
                <a:ea typeface="+mn-ea"/>
              </a:rPr>
              <a:t>1.2</a:t>
            </a:r>
            <a:r>
              <a:rPr kumimoji="1" lang="en-US" altLang="zh-CN" sz="1600" dirty="0"/>
              <a:t> </a:t>
            </a:r>
            <a:r>
              <a:rPr kumimoji="1" lang="zh-CN" altLang="en-US" sz="1600" dirty="0">
                <a:latin typeface="+mn-lt"/>
                <a:ea typeface="+mn-ea"/>
              </a:rPr>
              <a:t>支持</a:t>
            </a:r>
            <a:r>
              <a:rPr kumimoji="1" lang="en-US" altLang="zh-CN" sz="1600" dirty="0">
                <a:latin typeface="+mn-lt"/>
                <a:ea typeface="+mn-ea"/>
              </a:rPr>
              <a:t>AEB / FCW ANP2</a:t>
            </a:r>
            <a:r>
              <a:rPr kumimoji="1" lang="zh-CN" altLang="en-US" sz="1600" dirty="0">
                <a:latin typeface="+mn-lt"/>
                <a:ea typeface="+mn-ea"/>
              </a:rPr>
              <a:t>量产开发工作</a:t>
            </a:r>
            <a:endParaRPr kumimoji="1" lang="en-US" altLang="zh-CN" sz="1600" dirty="0">
              <a:latin typeface="+mn-lt"/>
              <a:ea typeface="+mn-ea"/>
            </a:endParaRPr>
          </a:p>
          <a:p>
            <a:r>
              <a:rPr kumimoji="1" lang="zh-CN" altLang="en-US" sz="2000" dirty="0">
                <a:latin typeface="+mn-lt"/>
                <a:ea typeface="+mn-ea"/>
              </a:rPr>
              <a:t> </a:t>
            </a:r>
            <a:r>
              <a:rPr kumimoji="1" lang="zh-CN" altLang="en-US" sz="1800" dirty="0">
                <a:latin typeface="+mn-lt"/>
                <a:ea typeface="+mn-ea"/>
              </a:rPr>
              <a:t>    </a:t>
            </a:r>
            <a:r>
              <a:rPr kumimoji="1" lang="en-US" altLang="zh-CN" sz="1400" dirty="0">
                <a:latin typeface="+mn-lt"/>
                <a:ea typeface="+mn-ea"/>
              </a:rPr>
              <a:t>【</a:t>
            </a:r>
            <a:r>
              <a:rPr kumimoji="1" lang="zh-CN" altLang="en-US" sz="1400" dirty="0">
                <a:latin typeface="+mn-lt"/>
                <a:ea typeface="+mn-ea"/>
              </a:rPr>
              <a:t>产出</a:t>
            </a:r>
            <a:r>
              <a:rPr kumimoji="1" lang="en-US" altLang="zh-CN" sz="1400" dirty="0">
                <a:latin typeface="+mn-lt"/>
                <a:ea typeface="+mn-ea"/>
              </a:rPr>
              <a:t>】</a:t>
            </a:r>
            <a:r>
              <a:rPr kumimoji="1" lang="zh-CN" altLang="en-US" sz="1400" dirty="0">
                <a:latin typeface="+mn-lt"/>
                <a:ea typeface="+mn-ea"/>
              </a:rPr>
              <a:t>完成开发初期</a:t>
            </a:r>
            <a:r>
              <a:rPr kumimoji="1" lang="zh-CN" altLang="en-US" sz="1400" b="1" dirty="0">
                <a:latin typeface="+mn-lt"/>
                <a:ea typeface="+mn-ea"/>
              </a:rPr>
              <a:t>除感知外</a:t>
            </a:r>
            <a:r>
              <a:rPr kumimoji="1" lang="en-US" altLang="zh-CN" sz="1400" b="1" dirty="0">
                <a:latin typeface="+mn-lt"/>
                <a:ea typeface="+mn-ea"/>
              </a:rPr>
              <a:t>AEB</a:t>
            </a:r>
            <a:r>
              <a:rPr kumimoji="1" lang="zh-CN" altLang="en-US" sz="1400" b="1" dirty="0">
                <a:latin typeface="+mn-lt"/>
                <a:ea typeface="+mn-ea"/>
              </a:rPr>
              <a:t>核心策略</a:t>
            </a:r>
            <a:r>
              <a:rPr kumimoji="1" lang="en-US" altLang="zh-CN" sz="1400" dirty="0">
                <a:latin typeface="+mn-lt"/>
                <a:ea typeface="+mn-ea"/>
              </a:rPr>
              <a:t>(CCR+VRU)</a:t>
            </a:r>
            <a:r>
              <a:rPr kumimoji="1" lang="zh-CN" altLang="en-US" sz="1400" dirty="0">
                <a:latin typeface="+mn-lt"/>
                <a:ea typeface="+mn-ea"/>
              </a:rPr>
              <a:t>文档和稳定版本交付至</a:t>
            </a:r>
            <a:r>
              <a:rPr kumimoji="1" lang="en-US" altLang="zh-CN" sz="1400" dirty="0">
                <a:latin typeface="+mn-lt"/>
                <a:ea typeface="+mn-ea"/>
              </a:rPr>
              <a:t>ANP2</a:t>
            </a:r>
            <a:r>
              <a:rPr kumimoji="1" lang="zh-CN" altLang="en-US" sz="1400" dirty="0">
                <a:latin typeface="+mn-lt"/>
                <a:ea typeface="+mn-ea"/>
              </a:rPr>
              <a:t>团队，后因项目进展不顺利未能持续支持</a:t>
            </a:r>
            <a:endParaRPr kumimoji="1" lang="en-US" altLang="zh-CN" sz="1400" dirty="0">
              <a:latin typeface="+mn-lt"/>
              <a:ea typeface="+mn-ea"/>
            </a:endParaRPr>
          </a:p>
          <a:p>
            <a:r>
              <a:rPr kumimoji="1" lang="zh-CN" altLang="en-US" sz="1200" dirty="0">
                <a:latin typeface="+mn-lt"/>
                <a:ea typeface="+mn-ea"/>
              </a:rPr>
              <a:t>          </a:t>
            </a:r>
            <a:r>
              <a:rPr kumimoji="1" lang="en" altLang="zh-CN" sz="1200" dirty="0">
                <a:latin typeface="+mn-lt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https://ku.baidu-int.com/knowledge/HFVrC7hq1Q/pKzJfZczuc/bxwcf-gv2P/Li2JAdkuYohS0O</a:t>
            </a:r>
            <a:endParaRPr kumimoji="1" lang="en-US" altLang="zh-CN" sz="1600" dirty="0">
              <a:latin typeface="+mn-lt"/>
              <a:ea typeface="+mn-ea"/>
            </a:endParaRPr>
          </a:p>
          <a:p>
            <a:r>
              <a:rPr kumimoji="1" lang="zh-CN" altLang="en-US" sz="1600" dirty="0">
                <a:latin typeface="+mn-lt"/>
                <a:ea typeface="+mn-ea"/>
              </a:rPr>
              <a:t>     </a:t>
            </a:r>
            <a:r>
              <a:rPr kumimoji="1" lang="zh-CN" altLang="en-US" sz="1400" dirty="0">
                <a:latin typeface="+mn-lt"/>
                <a:ea typeface="+mn-ea"/>
              </a:rPr>
              <a:t> </a:t>
            </a:r>
            <a:r>
              <a:rPr kumimoji="1" lang="en-US" altLang="zh-CN" sz="1400" dirty="0">
                <a:latin typeface="+mn-lt"/>
                <a:ea typeface="+mn-ea"/>
              </a:rPr>
              <a:t>【</a:t>
            </a:r>
            <a:r>
              <a:rPr kumimoji="1" lang="zh-CN" altLang="en-US" sz="1400" dirty="0">
                <a:latin typeface="+mn-lt"/>
                <a:ea typeface="+mn-ea"/>
              </a:rPr>
              <a:t>拓展</a:t>
            </a:r>
            <a:r>
              <a:rPr kumimoji="1" lang="en-US" altLang="zh-CN" sz="1400" dirty="0">
                <a:latin typeface="+mn-lt"/>
                <a:ea typeface="+mn-ea"/>
              </a:rPr>
              <a:t>】</a:t>
            </a:r>
            <a:r>
              <a:rPr kumimoji="1" lang="zh-CN" altLang="en-US" sz="1400" dirty="0">
                <a:latin typeface="+mn-lt"/>
                <a:ea typeface="+mn-ea"/>
              </a:rPr>
              <a:t>在该过程中更加熟悉了解</a:t>
            </a:r>
            <a:r>
              <a:rPr kumimoji="1" lang="en-US" altLang="zh-CN" sz="1400" dirty="0">
                <a:latin typeface="+mn-lt"/>
                <a:ea typeface="+mn-ea"/>
              </a:rPr>
              <a:t>VRU</a:t>
            </a:r>
            <a:r>
              <a:rPr kumimoji="1" lang="zh-CN" altLang="en-US" sz="1400" dirty="0">
                <a:latin typeface="+mn-lt"/>
                <a:ea typeface="+mn-ea"/>
              </a:rPr>
              <a:t>策略，消灭了</a:t>
            </a:r>
            <a:r>
              <a:rPr kumimoji="1" lang="en-US" altLang="zh-CN" sz="1400" dirty="0">
                <a:latin typeface="+mn-lt"/>
                <a:ea typeface="+mn-ea"/>
              </a:rPr>
              <a:t>AEB</a:t>
            </a:r>
            <a:r>
              <a:rPr kumimoji="1" lang="zh-CN" altLang="en-US" sz="1400" dirty="0">
                <a:latin typeface="+mn-lt"/>
                <a:ea typeface="+mn-ea"/>
              </a:rPr>
              <a:t>“知识盲区”，为后续</a:t>
            </a:r>
            <a:r>
              <a:rPr kumimoji="1" lang="en-US" altLang="zh-CN" sz="1400" dirty="0">
                <a:latin typeface="+mn-lt"/>
                <a:ea typeface="+mn-ea"/>
              </a:rPr>
              <a:t>AEB</a:t>
            </a:r>
            <a:r>
              <a:rPr kumimoji="1" lang="zh-CN" altLang="en-US" sz="1400" dirty="0">
                <a:latin typeface="+mn-lt"/>
                <a:ea typeface="+mn-ea"/>
              </a:rPr>
              <a:t>开发能够在多项目中研发适配夯实基础</a:t>
            </a:r>
            <a:endParaRPr kumimoji="1" lang="zh-CN" altLang="en-US" sz="16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18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971CF-9C28-9D4F-AAD1-FF2D5FFA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6" y="144066"/>
            <a:ext cx="11521440" cy="79208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2 OKR </a:t>
            </a:r>
            <a:r>
              <a:rPr kumimoji="1" lang="zh-CN" altLang="en-US" sz="2400" dirty="0"/>
              <a:t>完成情况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88D09-3AFB-854B-A0A3-CB312672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864146"/>
            <a:ext cx="11521440" cy="5472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CN" sz="1600" dirty="0"/>
              <a:t>2.1 </a:t>
            </a:r>
            <a:r>
              <a:rPr kumimoji="1" lang="zh-CN" altLang="en-US" sz="1600" dirty="0"/>
              <a:t>深入调研</a:t>
            </a:r>
            <a:r>
              <a:rPr kumimoji="1" lang="en-US" altLang="zh-CN" sz="1600" dirty="0"/>
              <a:t>CNCAP2024</a:t>
            </a:r>
            <a:r>
              <a:rPr kumimoji="1" lang="zh-CN" altLang="en-US" sz="1600" dirty="0"/>
              <a:t> 需求，完成方案评审</a:t>
            </a:r>
            <a:endParaRPr kumimoji="1" lang="en-US" altLang="zh-CN" sz="1600" dirty="0"/>
          </a:p>
          <a:p>
            <a:pPr marL="0" indent="0">
              <a:buNone/>
            </a:pPr>
            <a:r>
              <a:rPr kumimoji="1" lang="zh-CN" altLang="en-US" sz="1400" dirty="0"/>
              <a:t> 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关键产出</a:t>
            </a:r>
            <a:r>
              <a:rPr kumimoji="1" lang="en-US" altLang="zh-CN" sz="1400" dirty="0"/>
              <a:t>】CNCAP2024</a:t>
            </a:r>
            <a:r>
              <a:rPr kumimoji="1" lang="zh-CN" altLang="en-US" sz="1400" dirty="0"/>
              <a:t>需求变更评审及关键得分预估</a:t>
            </a:r>
            <a:r>
              <a:rPr kumimoji="1" lang="en" altLang="zh-CN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https://ku.baidu-int.com/knowledge/HFVrC7hq1Q/nA5b6cA54s/xDtqn3Xm8A/v2d6cU6A8J1ewX</a:t>
            </a:r>
            <a:r>
              <a:rPr kumimoji="1" lang="zh-CN" altLang="en-US" sz="1200" dirty="0"/>
              <a:t>，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zh-CN" altLang="en-US" sz="1400" dirty="0"/>
              <a:t> 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重要分析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针对道路中车辆横穿场景完成本地适配和关键分析</a:t>
            </a:r>
            <a:r>
              <a:rPr kumimoji="1" lang="en-US" altLang="zh-CN" sz="1400" dirty="0"/>
              <a:t> </a:t>
            </a:r>
            <a:r>
              <a:rPr kumimoji="1" lang="en" altLang="zh-CN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https://ku.baidu-int.com/knowledge/HFVrC7hq1Q/nA5b6cA54s/xDtqn3Xm8A/aCwcyO51spa5ja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en-US" altLang="zh-CN" sz="1400" dirty="0"/>
              <a:t>    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数据采集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到顺义测试场地采集</a:t>
            </a:r>
            <a:r>
              <a:rPr kumimoji="1" lang="en-US" altLang="zh-CN" sz="1400" dirty="0"/>
              <a:t>CNCAP-CCR-2024</a:t>
            </a:r>
            <a:r>
              <a:rPr kumimoji="1" lang="zh-CN" altLang="en-US" sz="1400" dirty="0"/>
              <a:t>部分场景数据和协助</a:t>
            </a:r>
            <a:r>
              <a:rPr kumimoji="1" lang="en-US" altLang="zh-CN" sz="1400" dirty="0"/>
              <a:t>VRU</a:t>
            </a:r>
            <a:r>
              <a:rPr kumimoji="1" lang="zh-CN" altLang="en-US" sz="1400" dirty="0"/>
              <a:t>场景采集，用于场景适配和本地调试</a:t>
            </a:r>
            <a:endParaRPr kumimoji="1" lang="en-US" altLang="zh-CN" sz="1400" dirty="0"/>
          </a:p>
          <a:p>
            <a:pPr marL="0" indent="0">
              <a:buNone/>
            </a:pPr>
            <a:endParaRPr kumimoji="1" lang="en-US" altLang="zh-CN" sz="1400" dirty="0"/>
          </a:p>
          <a:p>
            <a:pPr marL="0" indent="0">
              <a:buNone/>
            </a:pPr>
            <a:r>
              <a:rPr kumimoji="1" lang="zh-CN" altLang="en-US" sz="1400" dirty="0"/>
              <a:t>       </a:t>
            </a:r>
            <a:r>
              <a:rPr kumimoji="1" lang="en-US" altLang="zh-CN" sz="1400" dirty="0"/>
              <a:t>[gap]</a:t>
            </a:r>
            <a:r>
              <a:rPr kumimoji="1" lang="zh-CN" altLang="en-US" sz="1400" dirty="0"/>
              <a:t> 目前方案经过本地简单适配能够</a:t>
            </a:r>
            <a:r>
              <a:rPr kumimoji="1" lang="en-US" altLang="zh-CN" sz="1400" dirty="0"/>
              <a:t>cover</a:t>
            </a:r>
            <a:r>
              <a:rPr kumimoji="1" lang="zh-CN" altLang="en-US" sz="1400" dirty="0"/>
              <a:t>较少数横穿场景，但是在转弯场景对于本车和目标车</a:t>
            </a:r>
            <a:r>
              <a:rPr kumimoji="1" lang="zh-CN" altLang="en-US" sz="1400" b="1" dirty="0"/>
              <a:t>轨迹预测精度要求较高</a:t>
            </a:r>
            <a:r>
              <a:rPr kumimoji="1" lang="zh-CN" altLang="en-US" sz="1400" dirty="0"/>
              <a:t>，该部分策略通过运动学模型对标准法规场景有一定作用，但是难以应对复杂的道路环境社会车辆，可以考虑后期参考借鉴主线</a:t>
            </a:r>
            <a:r>
              <a:rPr kumimoji="1" lang="en-US" altLang="zh-CN" sz="1400" dirty="0"/>
              <a:t>PnC</a:t>
            </a:r>
            <a:r>
              <a:rPr kumimoji="1" lang="zh-CN" altLang="en-US" sz="1400" dirty="0"/>
              <a:t>策略，提升</a:t>
            </a:r>
            <a:r>
              <a:rPr kumimoji="1" lang="en-US" altLang="zh-CN" sz="1400" dirty="0"/>
              <a:t>AEB</a:t>
            </a:r>
            <a:r>
              <a:rPr kumimoji="1" lang="zh-CN" altLang="en-US" sz="1400" dirty="0"/>
              <a:t>原自能力</a:t>
            </a:r>
            <a:endParaRPr kumimoji="1" lang="en-US" altLang="zh-CN" sz="1400" dirty="0"/>
          </a:p>
          <a:p>
            <a:pPr marL="0" indent="0">
              <a:buNone/>
            </a:pP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600" dirty="0"/>
              <a:t>2.2</a:t>
            </a:r>
            <a:r>
              <a:rPr kumimoji="1" lang="zh-CN" altLang="en-US" sz="1600" dirty="0"/>
              <a:t> 构建</a:t>
            </a:r>
            <a:r>
              <a:rPr kumimoji="1" lang="en-US" altLang="zh-CN" sz="1600" dirty="0"/>
              <a:t>ADAS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AEB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CCR</a:t>
            </a:r>
            <a:r>
              <a:rPr kumimoji="1" lang="zh-CN" altLang="en-US" sz="1600" dirty="0"/>
              <a:t>仿真</a:t>
            </a:r>
            <a:r>
              <a:rPr kumimoji="1" lang="en-US" altLang="zh-CN" sz="1600" dirty="0"/>
              <a:t>logsim</a:t>
            </a:r>
            <a:r>
              <a:rPr kumimoji="1" lang="zh-CN" altLang="en-US" sz="1600" dirty="0"/>
              <a:t>数据集，协助跑通仿真链路</a:t>
            </a:r>
            <a:endParaRPr kumimoji="1" lang="en-US" altLang="zh-CN" sz="1600" dirty="0"/>
          </a:p>
          <a:p>
            <a:pPr marL="0" indent="0">
              <a:buNone/>
            </a:pPr>
            <a:r>
              <a:rPr kumimoji="1" lang="zh-CN" altLang="en-US" sz="1400" dirty="0"/>
              <a:t>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产出</a:t>
            </a:r>
            <a:r>
              <a:rPr kumimoji="1" lang="en-US" altLang="zh-CN" sz="1400" dirty="0"/>
              <a:t>】Q1</a:t>
            </a:r>
            <a:r>
              <a:rPr kumimoji="1" lang="zh-CN" altLang="en-US" sz="1400" dirty="0"/>
              <a:t>构建误触发和正常触发测试集共计</a:t>
            </a:r>
            <a:r>
              <a:rPr kumimoji="1" lang="en-US" altLang="zh-CN" sz="1400" dirty="0"/>
              <a:t>200+</a:t>
            </a:r>
            <a:r>
              <a:rPr kumimoji="1" lang="zh-CN" altLang="en-US" sz="1400" dirty="0"/>
              <a:t> </a:t>
            </a:r>
            <a:r>
              <a:rPr kumimoji="1" lang="en" altLang="zh-CN" sz="1400" dirty="0"/>
              <a:t>case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场地 </a:t>
            </a:r>
            <a:r>
              <a:rPr kumimoji="1" lang="en-US" altLang="zh-CN" sz="1400" dirty="0"/>
              <a:t>+</a:t>
            </a:r>
            <a:r>
              <a:rPr kumimoji="1" lang="zh-CN" altLang="en-US" sz="1400" dirty="0"/>
              <a:t> 道路测试</a:t>
            </a:r>
            <a:r>
              <a:rPr kumimoji="1" lang="en-US" altLang="zh-CN" sz="1400" dirty="0"/>
              <a:t>)</a:t>
            </a:r>
            <a:r>
              <a:rPr kumimoji="1" lang="zh-CN" altLang="en-US" sz="1400" dirty="0"/>
              <a:t>入库， 在仿真同学的协助下跑通仿真链路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en-US" altLang="zh-CN" sz="1400" dirty="0"/>
              <a:t>    【</a:t>
            </a:r>
            <a:r>
              <a:rPr kumimoji="1" lang="zh-CN" altLang="en-US" sz="1400" dirty="0"/>
              <a:t>补充说明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由于之前有效的仿真</a:t>
            </a:r>
            <a:r>
              <a:rPr kumimoji="1" lang="zh-CN" altLang="en-US" sz="1400" b="1" dirty="0"/>
              <a:t>产出失效</a:t>
            </a:r>
            <a:r>
              <a:rPr kumimoji="1" lang="zh-CN" altLang="en-US" sz="1400" dirty="0"/>
              <a:t>且仿真团队负责该部分同学离职交接</a:t>
            </a:r>
            <a:r>
              <a:rPr kumimoji="1" lang="en-US" altLang="zh-CN" sz="1400" dirty="0"/>
              <a:t>gap</a:t>
            </a:r>
            <a:r>
              <a:rPr kumimoji="1" lang="zh-CN" altLang="en-US" sz="1400" dirty="0"/>
              <a:t>，</a:t>
            </a:r>
            <a:r>
              <a:rPr kumimoji="1" lang="en-US" altLang="zh-CN" sz="1400" dirty="0"/>
              <a:t>Q4</a:t>
            </a:r>
            <a:r>
              <a:rPr kumimoji="1" lang="zh-CN" altLang="en-US" sz="1400" dirty="0"/>
              <a:t>继续和其他仿真同学重新对齐仿真需求， 明确</a:t>
            </a:r>
            <a:r>
              <a:rPr kumimoji="1" lang="en-US" altLang="zh-CN" sz="1400" dirty="0"/>
              <a:t>ADAS</a:t>
            </a:r>
            <a:r>
              <a:rPr kumimoji="1" lang="zh-CN" altLang="en-US" sz="1400" dirty="0"/>
              <a:t>仿      </a:t>
            </a:r>
            <a:r>
              <a:rPr kumimoji="1" lang="en-US" altLang="zh-CN" sz="1400" dirty="0"/>
              <a:t>	</a:t>
            </a:r>
            <a:r>
              <a:rPr kumimoji="1" lang="zh-CN" altLang="en-US" sz="1400" dirty="0"/>
              <a:t>   真产出适配变更点，之前计划待仿真团队释放产出继续跟进。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zh-CN" altLang="en-US" sz="1400" dirty="0"/>
              <a:t>     </a:t>
            </a:r>
            <a:r>
              <a:rPr kumimoji="1" lang="en-US" altLang="zh-CN" sz="1400" dirty="0"/>
              <a:t>[gap]</a:t>
            </a:r>
            <a:r>
              <a:rPr kumimoji="1" lang="zh-CN" altLang="en-US" sz="1400" dirty="0"/>
              <a:t>后期由于职能调整未能及时跟进</a:t>
            </a:r>
          </a:p>
          <a:p>
            <a:pPr marL="0" indent="0">
              <a:buNone/>
            </a:pPr>
            <a:endParaRPr kumimoji="1" lang="en-US" altLang="zh-CN" sz="1600" dirty="0"/>
          </a:p>
          <a:p>
            <a:pPr marL="0" indent="0">
              <a:buNone/>
            </a:pPr>
            <a:r>
              <a:rPr kumimoji="1" lang="en-US" altLang="zh-CN" sz="1600" dirty="0"/>
              <a:t>2.3</a:t>
            </a:r>
            <a:r>
              <a:rPr kumimoji="1" lang="zh-CN" altLang="en-US" sz="1600" dirty="0"/>
              <a:t> 阅读理解主线</a:t>
            </a:r>
            <a:r>
              <a:rPr kumimoji="1" lang="en" altLang="zh-CN" sz="1600" dirty="0"/>
              <a:t>PNC</a:t>
            </a:r>
            <a:r>
              <a:rPr kumimoji="1" lang="zh-CN" altLang="en-US" sz="1600" dirty="0"/>
              <a:t>算法设计，梳理</a:t>
            </a:r>
            <a:r>
              <a:rPr kumimoji="1" lang="en" altLang="zh-CN" sz="1600" dirty="0"/>
              <a:t>task</a:t>
            </a:r>
            <a:r>
              <a:rPr kumimoji="1" lang="zh-CN" altLang="en-US" sz="1600" dirty="0"/>
              <a:t>层面设计细节</a:t>
            </a:r>
            <a:endParaRPr kumimoji="1" lang="en-US" altLang="zh-CN" sz="1600" dirty="0"/>
          </a:p>
          <a:p>
            <a:pPr marL="0" indent="0">
              <a:buNone/>
            </a:pPr>
            <a:r>
              <a:rPr kumimoji="1" lang="zh-CN" altLang="en-US" sz="1400" dirty="0"/>
              <a:t>      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主动拓展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在尽量完成其他重要</a:t>
            </a:r>
            <a:r>
              <a:rPr kumimoji="1" lang="en-US" altLang="zh-CN" sz="1400" dirty="0"/>
              <a:t>OKR</a:t>
            </a:r>
            <a:r>
              <a:rPr kumimoji="1" lang="zh-CN" altLang="en-US" sz="1400" dirty="0"/>
              <a:t>之余熟悉架构和撰写文档并形成知识库沉淀</a:t>
            </a:r>
            <a:r>
              <a:rPr kumimoji="1" lang="en-US" altLang="zh-CN" sz="1400" dirty="0"/>
              <a:t>(&gt;=10)</a:t>
            </a:r>
            <a:r>
              <a:rPr kumimoji="1" lang="zh-CN" altLang="en-US" sz="1400" dirty="0"/>
              <a:t>，方便后续快速上手</a:t>
            </a:r>
            <a:r>
              <a:rPr kumimoji="1" lang="en-US" altLang="zh-CN" sz="1400" dirty="0"/>
              <a:t>PnC</a:t>
            </a:r>
          </a:p>
          <a:p>
            <a:pPr marL="0" indent="0">
              <a:buNone/>
            </a:pPr>
            <a:r>
              <a:rPr kumimoji="1" lang="zh-CN" altLang="en-US" sz="1200" dirty="0"/>
              <a:t>             </a:t>
            </a:r>
            <a:r>
              <a:rPr kumimoji="1" lang="en" altLang="zh-CN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https://ku.baidu-int.com/knowledge/HFVrC7hq1Q/pKzJfZczuc/bxwcf-gv2P/2y5FXbpUZNUpgm</a:t>
            </a:r>
            <a:endParaRPr kumimoji="1" lang="en" altLang="zh-CN" sz="1200" dirty="0"/>
          </a:p>
          <a:p>
            <a:pPr marL="0" indent="0">
              <a:buNone/>
            </a:pPr>
            <a:endParaRPr kumimoji="1" lang="en" altLang="zh-CN" sz="1200" dirty="0"/>
          </a:p>
          <a:p>
            <a:pPr marL="0" indent="0">
              <a:buNone/>
            </a:pPr>
            <a:r>
              <a:rPr kumimoji="1" lang="zh-CN" altLang="en-US" sz="1400" dirty="0"/>
              <a:t>          </a:t>
            </a:r>
            <a:r>
              <a:rPr kumimoji="1" lang="en-US" altLang="zh-CN" sz="1400" dirty="0"/>
              <a:t>【</a:t>
            </a:r>
            <a:r>
              <a:rPr kumimoji="1" lang="zh-CN" altLang="en-US" sz="1400" dirty="0"/>
              <a:t>开始上手</a:t>
            </a:r>
            <a:r>
              <a:rPr kumimoji="1" lang="en-US" altLang="zh-CN" sz="1400" dirty="0"/>
              <a:t>】</a:t>
            </a:r>
            <a:r>
              <a:rPr kumimoji="1" lang="zh-CN" altLang="en-US" sz="1400" dirty="0"/>
              <a:t>截止</a:t>
            </a:r>
            <a:r>
              <a:rPr kumimoji="1" lang="en-US" altLang="zh-CN" sz="1400" dirty="0"/>
              <a:t>2023.12.31</a:t>
            </a:r>
            <a:r>
              <a:rPr kumimoji="1" lang="zh-CN" altLang="en-US" sz="1400" dirty="0"/>
              <a:t> 「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」熟悉一些匝道</a:t>
            </a:r>
            <a:r>
              <a:rPr kumimoji="1" lang="en-US" altLang="zh-CN" sz="1400" dirty="0"/>
              <a:t>case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RCA</a:t>
            </a:r>
            <a:r>
              <a:rPr kumimoji="1" lang="zh-CN" altLang="en-US" sz="1400" dirty="0"/>
              <a:t>分析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zh-CN" altLang="en-US" sz="1400" dirty="0"/>
              <a:t>                                                                   「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」匝道动态选道部分的需求开发和初版上线，熟悉</a:t>
            </a:r>
            <a:r>
              <a:rPr kumimoji="1" lang="en-US" altLang="zh-CN" sz="1400" dirty="0"/>
              <a:t>world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sim</a:t>
            </a:r>
            <a:r>
              <a:rPr kumimoji="1" lang="zh-CN" altLang="en-US" sz="1400" dirty="0"/>
              <a:t>仿真及仿真日志分析等</a:t>
            </a:r>
            <a:endParaRPr kumimoji="1" lang="en-US" altLang="zh-CN" sz="1400" dirty="0"/>
          </a:p>
          <a:p>
            <a:pPr marL="0" indent="0">
              <a:buNone/>
            </a:pPr>
            <a:r>
              <a:rPr kumimoji="1" lang="zh-CN" altLang="en-US" sz="1400" dirty="0"/>
              <a:t>                                                                   「</a:t>
            </a:r>
            <a:r>
              <a:rPr kumimoji="1" lang="en-US" altLang="zh-CN" sz="1400" dirty="0"/>
              <a:t>3</a:t>
            </a:r>
            <a:r>
              <a:rPr kumimoji="1" lang="zh-CN" altLang="en-US" sz="1400" dirty="0"/>
              <a:t>」后续基于仿真部分的</a:t>
            </a:r>
            <a:r>
              <a:rPr kumimoji="1" lang="en-US" altLang="zh-CN" sz="1400" dirty="0"/>
              <a:t>fail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case</a:t>
            </a:r>
            <a:r>
              <a:rPr kumimoji="1" lang="zh-CN" altLang="en-US" sz="1400" dirty="0"/>
              <a:t>进行分析和迭代，在此谢谢健辉和品辛哥的耐心指导</a:t>
            </a:r>
            <a:endParaRPr kumimoji="1"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769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487A0-4141-9247-B433-FD901D94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5944" y="19304"/>
            <a:ext cx="11521440" cy="1200150"/>
          </a:xfrm>
        </p:spPr>
        <p:txBody>
          <a:bodyPr/>
          <a:lstStyle/>
          <a:p>
            <a:r>
              <a:rPr kumimoji="1" lang="en-US" altLang="zh-CN" sz="2400" dirty="0"/>
              <a:t> </a:t>
            </a:r>
            <a:r>
              <a:rPr kumimoji="1" lang="zh-CN" altLang="en-US" sz="2400" dirty="0"/>
              <a:t>总结规划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A3AFA-6A5A-6E40-9953-653675E4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68503"/>
            <a:ext cx="11521440" cy="475226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600" dirty="0"/>
              <a:t>【ADAS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1】 </a:t>
            </a:r>
            <a:r>
              <a:rPr kumimoji="1" lang="zh-CN" altLang="en-US" sz="1600" dirty="0"/>
              <a:t>面向量产提升关键性能指标，为平台</a:t>
            </a:r>
            <a:r>
              <a:rPr kumimoji="1" lang="en" altLang="zh-CN" sz="1600" dirty="0"/>
              <a:t>ADAS</a:t>
            </a:r>
            <a:r>
              <a:rPr kumimoji="1" lang="zh-CN" altLang="en-US" sz="1600" dirty="0"/>
              <a:t>主线能力提供强有力保障</a:t>
            </a:r>
            <a:endParaRPr kumimoji="1" lang="en-US" altLang="zh-CN" sz="1600" dirty="0"/>
          </a:p>
          <a:p>
            <a:pPr marL="0" indent="0">
              <a:buNone/>
            </a:pPr>
            <a:endParaRPr kumimoji="1" lang="zh-CN" altLang="en-US" sz="1600" dirty="0"/>
          </a:p>
          <a:p>
            <a:pPr marL="0" indent="0">
              <a:buNone/>
            </a:pPr>
            <a:r>
              <a:rPr kumimoji="1" lang="en-US" altLang="zh-CN" sz="1600" dirty="0"/>
              <a:t>【ADAS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2】 </a:t>
            </a:r>
            <a:r>
              <a:rPr kumimoji="1" lang="zh-CN" altLang="en-US" sz="1600" dirty="0"/>
              <a:t>协助构建</a:t>
            </a:r>
            <a:r>
              <a:rPr kumimoji="1" lang="en" altLang="zh-CN" sz="1600" dirty="0"/>
              <a:t>AEB</a:t>
            </a:r>
            <a:r>
              <a:rPr kumimoji="1" lang="zh-CN" altLang="en-US" sz="1600" dirty="0"/>
              <a:t>仿真场景，初步跑通场景集，为后续回归测试迭代提效</a:t>
            </a:r>
          </a:p>
          <a:p>
            <a:pPr marL="0" indent="0">
              <a:buNone/>
            </a:pPr>
            <a:endParaRPr kumimoji="1" lang="en-US" altLang="zh-CN" sz="1600" dirty="0"/>
          </a:p>
          <a:p>
            <a:pPr marL="0" indent="0">
              <a:buNone/>
            </a:pPr>
            <a:r>
              <a:rPr kumimoji="1" lang="en-US" altLang="zh-CN" sz="1600" dirty="0"/>
              <a:t>【ADAS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3】 </a:t>
            </a:r>
            <a:r>
              <a:rPr kumimoji="1" lang="zh-CN" altLang="en-US" sz="1600" dirty="0"/>
              <a:t>面向新法规完成</a:t>
            </a:r>
            <a:r>
              <a:rPr kumimoji="1" lang="en" altLang="zh-CN" sz="1600" dirty="0"/>
              <a:t>CNCAP2024</a:t>
            </a:r>
            <a:r>
              <a:rPr kumimoji="1" lang="zh-CN" altLang="en-US" sz="1600" dirty="0"/>
              <a:t>需求变更研讨、方案调研及评审、为后续场景适配缩短开发时间</a:t>
            </a:r>
            <a:endParaRPr kumimoji="1" lang="en-US" altLang="zh-CN" sz="1600" dirty="0"/>
          </a:p>
          <a:p>
            <a:pPr marL="0" indent="0">
              <a:buNone/>
            </a:pPr>
            <a:endParaRPr kumimoji="1" lang="en-US" altLang="zh-CN" sz="1600" dirty="0"/>
          </a:p>
          <a:p>
            <a:pPr marL="0" indent="0">
              <a:buNone/>
            </a:pPr>
            <a:r>
              <a:rPr kumimoji="1" lang="en-US" altLang="zh-CN" sz="1600" dirty="0"/>
              <a:t>【PNC 0-&gt;1】</a:t>
            </a:r>
            <a:r>
              <a:rPr kumimoji="1" lang="zh-CN" altLang="en-US" sz="1600" dirty="0"/>
              <a:t>熟悉并实现</a:t>
            </a:r>
            <a:r>
              <a:rPr kumimoji="1" lang="en-US" altLang="zh-CN" sz="1600" dirty="0"/>
              <a:t>PnC Ramp Executor</a:t>
            </a:r>
            <a:r>
              <a:rPr kumimoji="1" lang="zh-CN" altLang="en-US" sz="1600" dirty="0"/>
              <a:t>的一些小需求，上手仿真测试和日志分析等</a:t>
            </a:r>
            <a:endParaRPr kumimoji="1" lang="en-US" altLang="zh-CN" sz="1600" dirty="0"/>
          </a:p>
          <a:p>
            <a:pPr marL="0" indent="0">
              <a:buNone/>
            </a:pPr>
            <a:endParaRPr kumimoji="1" lang="en-US" altLang="zh-CN" sz="1600" dirty="0"/>
          </a:p>
          <a:p>
            <a:pPr marL="0" indent="0">
              <a:buNone/>
            </a:pPr>
            <a:r>
              <a:rPr kumimoji="1" lang="en-US" altLang="zh-CN" sz="1600" dirty="0"/>
              <a:t>【PNC 1-&gt;N】</a:t>
            </a:r>
            <a:r>
              <a:rPr kumimoji="1" lang="zh-CN" altLang="en-US" sz="1600" dirty="0"/>
              <a:t>未来希望持续聚焦</a:t>
            </a:r>
            <a:r>
              <a:rPr kumimoji="1" lang="en-US" altLang="zh-CN" sz="1600" dirty="0"/>
              <a:t>PnC</a:t>
            </a:r>
            <a:r>
              <a:rPr kumimoji="1" lang="zh-CN" altLang="en-US" sz="1600" dirty="0"/>
              <a:t>，面向轻图打磨关键</a:t>
            </a:r>
            <a:r>
              <a:rPr kumimoji="1" lang="en-US" altLang="zh-CN" sz="1600" dirty="0"/>
              <a:t>executor</a:t>
            </a:r>
            <a:r>
              <a:rPr kumimoji="1" lang="zh-CN" altLang="en-US" sz="1600" dirty="0"/>
              <a:t>，提升优质产出，为</a:t>
            </a:r>
            <a:r>
              <a:rPr kumimoji="1" lang="en-US" altLang="zh-CN" sz="1600" dirty="0"/>
              <a:t>team</a:t>
            </a:r>
            <a:r>
              <a:rPr kumimoji="1" lang="zh-CN" altLang="en-US" sz="1600" dirty="0"/>
              <a:t>做出更大贡献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448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PT_Template_H_2014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【述职模板】2022年终述职参考模板-1229" id="{52642362-A9FD-A844-9617-63966AB3E900}" vid="{D0406FF0-E335-A94B-9453-A144A3660752}"/>
    </a:ext>
  </a:extLst>
</a:theme>
</file>

<file path=ppt/theme/theme2.xml><?xml version="1.0" encoding="utf-8"?>
<a:theme xmlns:a="http://schemas.openxmlformats.org/drawingml/2006/main" name="1_PPT_Template_H_2014">
  <a:themeElements>
    <a:clrScheme name="自定义 2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00"/>
      </a:hlink>
      <a:folHlink>
        <a:srgbClr val="00000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【述职模板】2022年终述职参考模板-1229" id="{52642362-A9FD-A844-9617-63966AB3E900}" vid="{1DB7B9F9-31FA-134A-A671-BE2EADCB191A}"/>
    </a:ext>
  </a:extLst>
</a:theme>
</file>

<file path=ppt/theme/theme3.xml><?xml version="1.0" encoding="utf-8"?>
<a:theme xmlns:a="http://schemas.openxmlformats.org/drawingml/2006/main" name="PPT_Template_H">
  <a:themeElements>
    <a:clrScheme name="Baidu HR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【述职模板】2022年终述职参考模板-1229" id="{52642362-A9FD-A844-9617-63966AB3E900}" vid="{E35789B2-EF4B-C34F-B15D-0E8F6BCC245B}"/>
    </a:ext>
  </a:extLst>
</a:theme>
</file>

<file path=ppt/theme/theme4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述职模板】2022年终述职参考模板-1229" id="{52642362-A9FD-A844-9617-63966AB3E900}" vid="{47A59FF7-91F6-694E-8CD8-627E2F70A192}"/>
    </a:ext>
  </a:extLst>
</a:theme>
</file>

<file path=ppt/theme/theme5.xml><?xml version="1.0" encoding="utf-8"?>
<a:theme xmlns:a="http://schemas.openxmlformats.org/drawingml/2006/main" name="2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【述职模板】2022年终述职参考模板-1229" id="{52642362-A9FD-A844-9617-63966AB3E900}" vid="{0CF7AD87-B676-0744-A56C-F481F9573DB8}"/>
    </a:ext>
  </a:extLst>
</a:theme>
</file>

<file path=ppt/theme/theme6.xml><?xml version="1.0" encoding="utf-8"?>
<a:theme xmlns:a="http://schemas.openxmlformats.org/drawingml/2006/main" name="3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【述职模板】2022年终述职参考模板-1229" id="{52642362-A9FD-A844-9617-63966AB3E900}" vid="{CD3691A1-739D-B94D-8449-CC400383D468}"/>
    </a:ext>
  </a:extLst>
</a:theme>
</file>

<file path=ppt/theme/theme7.xml><?xml version="1.0" encoding="utf-8"?>
<a:theme xmlns:a="http://schemas.openxmlformats.org/drawingml/2006/main" name="4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【述职模板】2022年终述职参考模板-1229" id="{52642362-A9FD-A844-9617-63966AB3E900}" vid="{C466BE3F-DDF0-6B4A-88B4-32FECFADAE69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PPT_Template_H_2014</Template>
  <TotalTime>1139</TotalTime>
  <Pages>0</Pages>
  <Words>1011</Words>
  <Characters>0</Characters>
  <Application>Microsoft Macintosh PowerPoint</Application>
  <DocSecurity>0</DocSecurity>
  <PresentationFormat>自定义</PresentationFormat>
  <Lines>0</Lines>
  <Paragraphs>65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黑体</vt:lpstr>
      <vt:lpstr>微软雅黑</vt:lpstr>
      <vt:lpstr>Agency FB</vt:lpstr>
      <vt:lpstr>Arial</vt:lpstr>
      <vt:lpstr>Calibri</vt:lpstr>
      <vt:lpstr>Wingdings</vt:lpstr>
      <vt:lpstr>PPT_Template_H_2014</vt:lpstr>
      <vt:lpstr>1_PPT_Template_H_2014</vt:lpstr>
      <vt:lpstr>PPT_Template_H</vt:lpstr>
      <vt:lpstr>++1</vt:lpstr>
      <vt:lpstr>2_商业生态运营规划部</vt:lpstr>
      <vt:lpstr>3_商业生态运营规划部</vt:lpstr>
      <vt:lpstr>4_商业生态运营规划部</vt:lpstr>
      <vt:lpstr>think-cell Slide</vt:lpstr>
      <vt:lpstr>PowerPoint 演示文稿</vt:lpstr>
      <vt:lpstr>1 OKR 完成情况</vt:lpstr>
      <vt:lpstr>2 OKR 完成情况</vt:lpstr>
      <vt:lpstr> 总结规划</vt:lpstr>
    </vt:vector>
  </TitlesOfParts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zhengliqiang@baidu.com</dc:creator>
  <cp:lastModifiedBy>zhengliqiang@baidu.com</cp:lastModifiedBy>
  <cp:revision>224</cp:revision>
  <cp:lastPrinted>2017-01-03T06:15:17Z</cp:lastPrinted>
  <dcterms:created xsi:type="dcterms:W3CDTF">2024-01-12T08:46:17Z</dcterms:created>
  <dcterms:modified xsi:type="dcterms:W3CDTF">2024-01-13T06:10:59Z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2052-6.3.0.1705</vt:lpwstr>
  </property>
</Properties>
</file>